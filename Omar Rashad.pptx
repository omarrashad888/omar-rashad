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nton" pitchFamily="2" charset="0"/>
      <p:regular r:id="rId18"/>
    </p:embeddedFont>
    <p:embeddedFont>
      <p:font typeface="Anton Italics" pitchFamily="2" charset="0"/>
      <p:regular r:id="rId19"/>
    </p:embeddedFont>
    <p:embeddedFont>
      <p:font typeface="Droid Arabic Naskh Bold" panose="020B0806030804020204" pitchFamily="34" charset="0"/>
      <p:regular r:id="rId20"/>
    </p:embeddedFont>
    <p:embeddedFont>
      <p:font typeface="Raleway" pitchFamily="2" charset="0"/>
      <p:regular r:id="rId21"/>
    </p:embeddedFont>
    <p:embeddedFont>
      <p:font typeface="Raleway Bold" pitchFamily="2" charset="0"/>
      <p:regular r:id="rId22"/>
    </p:embeddedFont>
    <p:embeddedFont>
      <p:font typeface="TT Lakes Neue" panose="02010001040000080307" pitchFamily="2" charset="0"/>
      <p:regular r:id="rId23"/>
    </p:embeddedFont>
    <p:embeddedFont>
      <p:font typeface="TT Lakes Neue Bold" panose="02010001040000080307" pitchFamily="2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1.fntdata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4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3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7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6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font" Target="fonts/font2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5.fntdata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jpeg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 /><Relationship Id="rId3" Type="http://schemas.openxmlformats.org/officeDocument/2006/relationships/image" Target="../media/image2.svg" /><Relationship Id="rId7" Type="http://schemas.openxmlformats.org/officeDocument/2006/relationships/image" Target="../media/image8.jpe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jpeg" /><Relationship Id="rId5" Type="http://schemas.openxmlformats.org/officeDocument/2006/relationships/image" Target="../media/image6.jpeg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jpeg" /><Relationship Id="rId5" Type="http://schemas.openxmlformats.org/officeDocument/2006/relationships/image" Target="../media/image10.jpeg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jpeg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jpeg" /><Relationship Id="rId5" Type="http://schemas.openxmlformats.org/officeDocument/2006/relationships/image" Target="../media/image12.jpeg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5.jpeg" /><Relationship Id="rId5" Type="http://schemas.openxmlformats.org/officeDocument/2006/relationships/image" Target="../media/image14.jpeg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7.jpeg" /><Relationship Id="rId5" Type="http://schemas.openxmlformats.org/officeDocument/2006/relationships/image" Target="../media/image16.jpeg" /><Relationship Id="rId4" Type="http://schemas.openxmlformats.org/officeDocument/2006/relationships/image" Target="../media/image3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9.jpeg" /><Relationship Id="rId5" Type="http://schemas.openxmlformats.org/officeDocument/2006/relationships/image" Target="../media/image18.jpeg" /><Relationship Id="rId4" Type="http://schemas.openxmlformats.org/officeDocument/2006/relationships/image" Target="../media/image3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.jpeg" /><Relationship Id="rId4" Type="http://schemas.openxmlformats.org/officeDocument/2006/relationships/image" Target="../media/image3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0.svg" /><Relationship Id="rId4" Type="http://schemas.openxmlformats.org/officeDocument/2006/relationships/image" Target="../media/image3.sv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1.png" /><Relationship Id="rId4" Type="http://schemas.openxmlformats.org/officeDocument/2006/relationships/image" Target="../media/image3.sv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2.svg" /><Relationship Id="rId4" Type="http://schemas.openxmlformats.org/officeDocument/2006/relationships/image" Target="../media/image3.sv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3.svg" /><Relationship Id="rId4" Type="http://schemas.openxmlformats.org/officeDocument/2006/relationships/image" Target="../media/image3.sv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4.svg" /><Relationship Id="rId4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3393895"/>
            <a:ext cx="18387059" cy="3515099"/>
            <a:chOff x="0" y="0"/>
            <a:chExt cx="4842682" cy="925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594631" y="1465245"/>
            <a:ext cx="2351901" cy="2351901"/>
          </a:xfrm>
          <a:custGeom>
            <a:avLst/>
            <a:gdLst/>
            <a:ahLst/>
            <a:cxnLst/>
            <a:rect l="l" t="t" r="r" b="b"/>
            <a:pathLst>
              <a:path w="2351901" h="2351901">
                <a:moveTo>
                  <a:pt x="0" y="0"/>
                </a:moveTo>
                <a:lnTo>
                  <a:pt x="2351900" y="0"/>
                </a:lnTo>
                <a:lnTo>
                  <a:pt x="2351900" y="2351901"/>
                </a:lnTo>
                <a:lnTo>
                  <a:pt x="0" y="2351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323024" y="4097168"/>
            <a:ext cx="11641951" cy="186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23"/>
              </a:lnSpc>
              <a:spcBef>
                <a:spcPct val="0"/>
              </a:spcBef>
            </a:pPr>
            <a:r>
              <a:rPr lang="en-US" sz="1341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WI-IF IDS DEVICE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66160" y="6091047"/>
            <a:ext cx="6008843" cy="31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353" spc="609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46481" y="4014474"/>
            <a:ext cx="5881855" cy="3734449"/>
            <a:chOff x="0" y="0"/>
            <a:chExt cx="991089" cy="629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1089" cy="629253"/>
            </a:xfrm>
            <a:custGeom>
              <a:avLst/>
              <a:gdLst/>
              <a:ahLst/>
              <a:cxnLst/>
              <a:rect l="l" t="t" r="r" b="b"/>
              <a:pathLst>
                <a:path w="991089" h="629253">
                  <a:moveTo>
                    <a:pt x="0" y="0"/>
                  </a:moveTo>
                  <a:lnTo>
                    <a:pt x="991089" y="0"/>
                  </a:lnTo>
                  <a:lnTo>
                    <a:pt x="991089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5"/>
              <a:stretch>
                <a:fillRect l="-2909" r="-2909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5362" y="2840654"/>
            <a:ext cx="7068313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0188" y="3947799"/>
            <a:ext cx="6853407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Wi-Fi networks are widely used today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Cyber attacks on wireless networks are increasing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Deauthentication attacks are dangerous threats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545562" y="6692062"/>
            <a:ext cx="2468532" cy="313375"/>
            <a:chOff x="0" y="0"/>
            <a:chExt cx="650148" cy="82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21757266" cy="7076160"/>
            <a:chOff x="0" y="0"/>
            <a:chExt cx="5730309" cy="1863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0309" cy="1863680"/>
            </a:xfrm>
            <a:custGeom>
              <a:avLst/>
              <a:gdLst/>
              <a:ahLst/>
              <a:cxnLst/>
              <a:rect l="l" t="t" r="r" b="b"/>
              <a:pathLst>
                <a:path w="5730309" h="1863680">
                  <a:moveTo>
                    <a:pt x="0" y="0"/>
                  </a:moveTo>
                  <a:lnTo>
                    <a:pt x="5730309" y="0"/>
                  </a:lnTo>
                  <a:lnTo>
                    <a:pt x="5730309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30309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234" y="3190723"/>
            <a:ext cx="2949173" cy="2582973"/>
            <a:chOff x="0" y="0"/>
            <a:chExt cx="812800" cy="71187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874"/>
            </a:xfrm>
            <a:custGeom>
              <a:avLst/>
              <a:gdLst/>
              <a:ahLst/>
              <a:cxnLst/>
              <a:rect l="l" t="t" r="r" b="b"/>
              <a:pathLst>
                <a:path w="812800" h="711874">
                  <a:moveTo>
                    <a:pt x="0" y="0"/>
                  </a:moveTo>
                  <a:lnTo>
                    <a:pt x="812800" y="0"/>
                  </a:lnTo>
                  <a:lnTo>
                    <a:pt x="812800" y="711874"/>
                  </a:lnTo>
                  <a:lnTo>
                    <a:pt x="0" y="711874"/>
                  </a:lnTo>
                  <a:close/>
                </a:path>
              </a:pathLst>
            </a:custGeom>
            <a:blipFill>
              <a:blip r:embed="rId5"/>
              <a:stretch>
                <a:fillRect l="-15728" r="-15728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287234" y="4797862"/>
            <a:ext cx="2949173" cy="975834"/>
            <a:chOff x="0" y="0"/>
            <a:chExt cx="910833" cy="3013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0833" cy="301380"/>
            </a:xfrm>
            <a:custGeom>
              <a:avLst/>
              <a:gdLst/>
              <a:ahLst/>
              <a:cxnLst/>
              <a:rect l="l" t="t" r="r" b="b"/>
              <a:pathLst>
                <a:path w="910833" h="301380">
                  <a:moveTo>
                    <a:pt x="0" y="0"/>
                  </a:moveTo>
                  <a:lnTo>
                    <a:pt x="910833" y="0"/>
                  </a:lnTo>
                  <a:lnTo>
                    <a:pt x="910833" y="301380"/>
                  </a:lnTo>
                  <a:lnTo>
                    <a:pt x="0" y="3013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38100"/>
              <a:ext cx="910833" cy="26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658972" y="3190723"/>
            <a:ext cx="2949173" cy="2582973"/>
            <a:chOff x="0" y="0"/>
            <a:chExt cx="812800" cy="7118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874"/>
            </a:xfrm>
            <a:custGeom>
              <a:avLst/>
              <a:gdLst/>
              <a:ahLst/>
              <a:cxnLst/>
              <a:rect l="l" t="t" r="r" b="b"/>
              <a:pathLst>
                <a:path w="812800" h="711874">
                  <a:moveTo>
                    <a:pt x="0" y="0"/>
                  </a:moveTo>
                  <a:lnTo>
                    <a:pt x="812800" y="0"/>
                  </a:lnTo>
                  <a:lnTo>
                    <a:pt x="812800" y="711874"/>
                  </a:lnTo>
                  <a:lnTo>
                    <a:pt x="0" y="711874"/>
                  </a:lnTo>
                  <a:close/>
                </a:path>
              </a:pathLst>
            </a:custGeom>
            <a:blipFill>
              <a:blip r:embed="rId6"/>
              <a:stretch>
                <a:fillRect t="-35686" b="-35686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3658972" y="4797862"/>
            <a:ext cx="2949173" cy="975834"/>
            <a:chOff x="0" y="0"/>
            <a:chExt cx="910833" cy="3013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0833" cy="301380"/>
            </a:xfrm>
            <a:custGeom>
              <a:avLst/>
              <a:gdLst/>
              <a:ahLst/>
              <a:cxnLst/>
              <a:rect l="l" t="t" r="r" b="b"/>
              <a:pathLst>
                <a:path w="910833" h="301380">
                  <a:moveTo>
                    <a:pt x="0" y="0"/>
                  </a:moveTo>
                  <a:lnTo>
                    <a:pt x="910833" y="0"/>
                  </a:lnTo>
                  <a:lnTo>
                    <a:pt x="910833" y="301380"/>
                  </a:lnTo>
                  <a:lnTo>
                    <a:pt x="0" y="3013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910833" cy="26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37437" y="6003512"/>
            <a:ext cx="2949173" cy="2582973"/>
            <a:chOff x="0" y="0"/>
            <a:chExt cx="812800" cy="7118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874"/>
            </a:xfrm>
            <a:custGeom>
              <a:avLst/>
              <a:gdLst/>
              <a:ahLst/>
              <a:cxnLst/>
              <a:rect l="l" t="t" r="r" b="b"/>
              <a:pathLst>
                <a:path w="812800" h="711874">
                  <a:moveTo>
                    <a:pt x="0" y="0"/>
                  </a:moveTo>
                  <a:lnTo>
                    <a:pt x="812800" y="0"/>
                  </a:lnTo>
                  <a:lnTo>
                    <a:pt x="812800" y="711874"/>
                  </a:lnTo>
                  <a:lnTo>
                    <a:pt x="0" y="711874"/>
                  </a:lnTo>
                  <a:close/>
                </a:path>
              </a:pathLst>
            </a:custGeom>
            <a:blipFill>
              <a:blip r:embed="rId7"/>
              <a:stretch>
                <a:fillRect l="-15728" r="-15728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237437" y="7610651"/>
            <a:ext cx="2949173" cy="975834"/>
            <a:chOff x="0" y="0"/>
            <a:chExt cx="910833" cy="3013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0833" cy="301380"/>
            </a:xfrm>
            <a:custGeom>
              <a:avLst/>
              <a:gdLst/>
              <a:ahLst/>
              <a:cxnLst/>
              <a:rect l="l" t="t" r="r" b="b"/>
              <a:pathLst>
                <a:path w="910833" h="301380">
                  <a:moveTo>
                    <a:pt x="0" y="0"/>
                  </a:moveTo>
                  <a:lnTo>
                    <a:pt x="910833" y="0"/>
                  </a:lnTo>
                  <a:lnTo>
                    <a:pt x="910833" y="301380"/>
                  </a:lnTo>
                  <a:lnTo>
                    <a:pt x="0" y="3013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38100"/>
              <a:ext cx="910833" cy="26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09175" y="6003512"/>
            <a:ext cx="2949173" cy="2582973"/>
            <a:chOff x="0" y="0"/>
            <a:chExt cx="812800" cy="7118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711874"/>
            </a:xfrm>
            <a:custGeom>
              <a:avLst/>
              <a:gdLst/>
              <a:ahLst/>
              <a:cxnLst/>
              <a:rect l="l" t="t" r="r" b="b"/>
              <a:pathLst>
                <a:path w="812800" h="711874">
                  <a:moveTo>
                    <a:pt x="0" y="0"/>
                  </a:moveTo>
                  <a:lnTo>
                    <a:pt x="812800" y="0"/>
                  </a:lnTo>
                  <a:lnTo>
                    <a:pt x="812800" y="711874"/>
                  </a:lnTo>
                  <a:lnTo>
                    <a:pt x="0" y="711874"/>
                  </a:lnTo>
                  <a:close/>
                </a:path>
              </a:pathLst>
            </a:custGeom>
            <a:blipFill>
              <a:blip r:embed="rId8"/>
              <a:stretch>
                <a:fillRect l="-15728" r="-15728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3609175" y="7610651"/>
            <a:ext cx="2949173" cy="975834"/>
            <a:chOff x="0" y="0"/>
            <a:chExt cx="910833" cy="3013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0833" cy="301380"/>
            </a:xfrm>
            <a:custGeom>
              <a:avLst/>
              <a:gdLst/>
              <a:ahLst/>
              <a:cxnLst/>
              <a:rect l="l" t="t" r="r" b="b"/>
              <a:pathLst>
                <a:path w="910833" h="301380">
                  <a:moveTo>
                    <a:pt x="0" y="0"/>
                  </a:moveTo>
                  <a:lnTo>
                    <a:pt x="910833" y="0"/>
                  </a:lnTo>
                  <a:lnTo>
                    <a:pt x="910833" y="301380"/>
                  </a:lnTo>
                  <a:lnTo>
                    <a:pt x="0" y="3013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0" y="38100"/>
              <a:ext cx="910833" cy="26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95121" y="4950052"/>
            <a:ext cx="787891" cy="770168"/>
            <a:chOff x="0" y="0"/>
            <a:chExt cx="812800" cy="7945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794516"/>
            </a:xfrm>
            <a:custGeom>
              <a:avLst/>
              <a:gdLst/>
              <a:ahLst/>
              <a:cxnLst/>
              <a:rect l="l" t="t" r="r" b="b"/>
              <a:pathLst>
                <a:path w="812800" h="794516">
                  <a:moveTo>
                    <a:pt x="406400" y="0"/>
                  </a:moveTo>
                  <a:cubicBezTo>
                    <a:pt x="181951" y="0"/>
                    <a:pt x="0" y="177859"/>
                    <a:pt x="0" y="397258"/>
                  </a:cubicBezTo>
                  <a:cubicBezTo>
                    <a:pt x="0" y="616658"/>
                    <a:pt x="181951" y="794516"/>
                    <a:pt x="406400" y="794516"/>
                  </a:cubicBezTo>
                  <a:cubicBezTo>
                    <a:pt x="630849" y="794516"/>
                    <a:pt x="812800" y="616658"/>
                    <a:pt x="812800" y="397258"/>
                  </a:cubicBezTo>
                  <a:cubicBezTo>
                    <a:pt x="812800" y="177859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112586"/>
              <a:ext cx="660400" cy="607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4827" y="3219606"/>
            <a:ext cx="8792113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68647" y="5029251"/>
            <a:ext cx="424106" cy="54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1"/>
              </a:lnSpc>
              <a:spcBef>
                <a:spcPct val="0"/>
              </a:spcBef>
            </a:pPr>
            <a:r>
              <a:rPr lang="en-US" sz="320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378157" y="4698226"/>
            <a:ext cx="3389562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THE ATTACK DISCONNECTS USERS FROM THE INTERNET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588703" y="6259136"/>
            <a:ext cx="789454" cy="789454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824519" y="6329777"/>
            <a:ext cx="439488" cy="57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  <a:spcBef>
                <a:spcPct val="0"/>
              </a:spcBef>
            </a:pPr>
            <a:r>
              <a:rPr lang="en-US" sz="331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435912" y="6250099"/>
            <a:ext cx="3560277" cy="750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  <a:spcBef>
                <a:spcPct val="0"/>
              </a:spcBef>
            </a:pPr>
            <a:r>
              <a:rPr lang="en-US" sz="2105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USERS CANNOT IDENTIFY THE REASON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539929" y="7364866"/>
            <a:ext cx="935385" cy="935385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859038" y="7515315"/>
            <a:ext cx="404969" cy="52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9"/>
              </a:lnSpc>
              <a:spcBef>
                <a:spcPct val="0"/>
              </a:spcBef>
            </a:pPr>
            <a:r>
              <a:rPr lang="en-US" sz="305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435912" y="7324879"/>
            <a:ext cx="3389562" cy="999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REAL-TIME LOW-COST DETECTION TOOLS ARE LIMITED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76758" y="6073335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27250" y="2182140"/>
            <a:ext cx="5213049" cy="6066093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t="-14372" b="-14372"/>
              </a:stretch>
            </a:blipFill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67449" y="2926236"/>
            <a:ext cx="6653456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IDEA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67449" y="3913391"/>
            <a:ext cx="7691851" cy="196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Building a Wi-Fi IDS device</a:t>
            </a:r>
          </a:p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Using ESP32 microcontroller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Detecting attacks in real-time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48215" y="2256341"/>
            <a:ext cx="2070093" cy="2408835"/>
            <a:chOff x="0" y="0"/>
            <a:chExt cx="6985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25826" r="-8104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7671729" y="2004339"/>
            <a:ext cx="27740609" cy="1629149"/>
            <a:chOff x="0" y="0"/>
            <a:chExt cx="7306169" cy="429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6169" cy="429076"/>
            </a:xfrm>
            <a:custGeom>
              <a:avLst/>
              <a:gdLst/>
              <a:ahLst/>
              <a:cxnLst/>
              <a:rect l="l" t="t" r="r" b="b"/>
              <a:pathLst>
                <a:path w="7306169" h="429076">
                  <a:moveTo>
                    <a:pt x="0" y="0"/>
                  </a:moveTo>
                  <a:lnTo>
                    <a:pt x="7306169" y="0"/>
                  </a:lnTo>
                  <a:lnTo>
                    <a:pt x="7306169" y="429076"/>
                  </a:lnTo>
                  <a:lnTo>
                    <a:pt x="0" y="429076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306169" cy="390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44981" y="2286915"/>
            <a:ext cx="9143640" cy="116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INNOVATIVE CONCEPT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18348" y="6763031"/>
            <a:ext cx="11996907" cy="1934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Using Promiscuous Mode</a:t>
            </a:r>
          </a:p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Capturing and analyzing packets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Detecting attacks instantly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864412" y="3455687"/>
            <a:ext cx="14457354" cy="2929007"/>
            <a:chOff x="0" y="0"/>
            <a:chExt cx="2239822" cy="4537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39822" cy="453780"/>
            </a:xfrm>
            <a:custGeom>
              <a:avLst/>
              <a:gdLst/>
              <a:ahLst/>
              <a:cxnLst/>
              <a:rect l="l" t="t" r="r" b="b"/>
              <a:pathLst>
                <a:path w="2239822" h="453780">
                  <a:moveTo>
                    <a:pt x="0" y="0"/>
                  </a:moveTo>
                  <a:lnTo>
                    <a:pt x="2239822" y="0"/>
                  </a:lnTo>
                  <a:lnTo>
                    <a:pt x="2239822" y="453780"/>
                  </a:lnTo>
                  <a:lnTo>
                    <a:pt x="0" y="453780"/>
                  </a:lnTo>
                  <a:close/>
                </a:path>
              </a:pathLst>
            </a:custGeom>
            <a:blipFill>
              <a:blip r:embed="rId5"/>
              <a:stretch>
                <a:fillRect t="-88822" b="-88822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81722" y="4014497"/>
            <a:ext cx="3331953" cy="4061629"/>
            <a:chOff x="0" y="0"/>
            <a:chExt cx="516207" cy="629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5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4563" y="2286915"/>
            <a:ext cx="7068313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ADDED VALUE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994563" y="4014497"/>
            <a:ext cx="3331953" cy="4061629"/>
            <a:chOff x="0" y="0"/>
            <a:chExt cx="516207" cy="6292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6207" cy="629253"/>
            </a:xfrm>
            <a:custGeom>
              <a:avLst/>
              <a:gdLst/>
              <a:ahLst/>
              <a:cxnLst/>
              <a:rect l="l" t="t" r="r" b="b"/>
              <a:pathLst>
                <a:path w="516207" h="629253">
                  <a:moveTo>
                    <a:pt x="0" y="0"/>
                  </a:moveTo>
                  <a:lnTo>
                    <a:pt x="516207" y="0"/>
                  </a:lnTo>
                  <a:lnTo>
                    <a:pt x="516207" y="629253"/>
                  </a:lnTo>
                  <a:lnTo>
                    <a:pt x="0" y="629253"/>
                  </a:lnTo>
                  <a:close/>
                </a:path>
              </a:pathLst>
            </a:custGeom>
            <a:blipFill>
              <a:blip r:embed="rId6"/>
              <a:stretch>
                <a:fillRect l="-41481" r="-414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458724" y="4233439"/>
            <a:ext cx="928926" cy="92892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760507" y="4333246"/>
            <a:ext cx="511416" cy="653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  <a:spcBef>
                <a:spcPct val="0"/>
              </a:spcBef>
            </a:pPr>
            <a:r>
              <a:rPr lang="en-US" sz="38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08802" y="4507466"/>
            <a:ext cx="3389562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REAL-TIME DETECTION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458724" y="5400490"/>
            <a:ext cx="956124" cy="956124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760507" y="5513896"/>
            <a:ext cx="511416" cy="653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  <a:spcBef>
                <a:spcPct val="0"/>
              </a:spcBef>
            </a:pPr>
            <a:r>
              <a:rPr lang="en-US" sz="386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14058" y="5688115"/>
            <a:ext cx="31790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LOW-COST SOLUTION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472323" y="6598972"/>
            <a:ext cx="976860" cy="97686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760507" y="6689989"/>
            <a:ext cx="517719" cy="660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70"/>
              </a:lnSpc>
              <a:spcBef>
                <a:spcPct val="0"/>
              </a:spcBef>
            </a:pPr>
            <a:r>
              <a:rPr lang="en-US" sz="390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14058" y="6896965"/>
            <a:ext cx="3389562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EASY TO USE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8690313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72812" y="3486581"/>
            <a:ext cx="1104613" cy="1104613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3321726" y="1993313"/>
            <a:ext cx="3542970" cy="7010374"/>
            <a:chOff x="0" y="0"/>
            <a:chExt cx="2620010" cy="5184140"/>
          </a:xfrm>
        </p:grpSpPr>
        <p:sp>
          <p:nvSpPr>
            <p:cNvPr id="21" name="Freeform 2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1263" r="-31263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9662" y="2093685"/>
            <a:ext cx="9984819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HARDWARE COMPONENTS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93840" y="3702274"/>
            <a:ext cx="429499" cy="56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8"/>
              </a:lnSpc>
              <a:spcBef>
                <a:spcPct val="0"/>
              </a:spcBef>
            </a:pPr>
            <a:r>
              <a:rPr lang="en-US" sz="324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19257" y="3892064"/>
            <a:ext cx="4365628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ESP32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11390" y="5067300"/>
            <a:ext cx="427456" cy="55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7"/>
              </a:lnSpc>
              <a:spcBef>
                <a:spcPct val="0"/>
              </a:spcBef>
            </a:pPr>
            <a:r>
              <a:rPr lang="en-US" sz="322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19257" y="5141395"/>
            <a:ext cx="31790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LCD 2×16 DISPLAY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426769" y="5159789"/>
            <a:ext cx="2070093" cy="2408835"/>
            <a:chOff x="0" y="0"/>
            <a:chExt cx="6985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8181" r="-81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8731364" y="4796302"/>
            <a:ext cx="1104613" cy="1104613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72812" y="6056403"/>
            <a:ext cx="1104613" cy="110461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r>
                <a:rPr lang="en-US" sz="2333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3.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731364" y="7380091"/>
            <a:ext cx="1104613" cy="1104613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r>
                <a:rPr lang="en-US" sz="2333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4.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9424568" y="6464144"/>
            <a:ext cx="3179050" cy="317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Buzzer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08931" y="7789666"/>
            <a:ext cx="3179050" cy="317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Jumper Wires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4317818" y="2004339"/>
            <a:ext cx="27740609" cy="1629149"/>
            <a:chOff x="0" y="0"/>
            <a:chExt cx="7306169" cy="429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6169" cy="429076"/>
            </a:xfrm>
            <a:custGeom>
              <a:avLst/>
              <a:gdLst/>
              <a:ahLst/>
              <a:cxnLst/>
              <a:rect l="l" t="t" r="r" b="b"/>
              <a:pathLst>
                <a:path w="7306169" h="429076">
                  <a:moveTo>
                    <a:pt x="0" y="0"/>
                  </a:moveTo>
                  <a:lnTo>
                    <a:pt x="7306169" y="0"/>
                  </a:lnTo>
                  <a:lnTo>
                    <a:pt x="7306169" y="429076"/>
                  </a:lnTo>
                  <a:lnTo>
                    <a:pt x="0" y="429076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306169" cy="390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 SAMEH - 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11837" y="2286915"/>
            <a:ext cx="13809929" cy="116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SYSTEM WORKING MECHANISM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64017" y="4173639"/>
            <a:ext cx="2940789" cy="3422009"/>
            <a:chOff x="0" y="0"/>
            <a:chExt cx="6985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t="-25263" b="-25263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163888" y="4631472"/>
            <a:ext cx="418645" cy="41864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68549" y="6776634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732800" y="4173639"/>
            <a:ext cx="2940789" cy="3422009"/>
            <a:chOff x="0" y="0"/>
            <a:chExt cx="6985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t="-25383" b="-25383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3132670" y="4631472"/>
            <a:ext cx="418645" cy="41864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237331" y="4675104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81262" y="6761394"/>
            <a:ext cx="3389562" cy="32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ANALYZE TRAFFIC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68549" y="4675104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5163888" y="6733001"/>
            <a:ext cx="418645" cy="418645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237331" y="6867910"/>
            <a:ext cx="209323" cy="28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4.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3132670" y="6824259"/>
            <a:ext cx="418645" cy="418645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781262" y="4635136"/>
            <a:ext cx="3389562" cy="32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CAPTURE PACKETS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04992" y="4659864"/>
            <a:ext cx="3389562" cy="32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DETECT ATTACK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704992" y="6852670"/>
            <a:ext cx="3389562" cy="32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TRIGGER ALARM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847975" y="7972113"/>
            <a:ext cx="599620" cy="599620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8606836" y="8109998"/>
            <a:ext cx="3049222" cy="28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7"/>
              </a:lnSpc>
              <a:spcBef>
                <a:spcPct val="0"/>
              </a:spcBef>
            </a:pPr>
            <a:r>
              <a:rPr lang="en-US" sz="169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DISPLAY DETAILS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46108" y="8085242"/>
            <a:ext cx="203354" cy="32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5"/>
              </a:lnSpc>
            </a:pPr>
            <a:r>
              <a:rPr lang="en-US" sz="1868" b="1">
                <a:solidFill>
                  <a:srgbClr val="FFFFFF"/>
                </a:solidFill>
                <a:latin typeface="Droid Arabic Naskh Bold"/>
                <a:ea typeface="Droid Arabic Naskh Bold"/>
                <a:cs typeface="Droid Arabic Naskh Bold"/>
                <a:sym typeface="Droid Arabic Naskh Bold"/>
              </a:rPr>
              <a:t>5.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18387059" cy="3515099"/>
            <a:chOff x="0" y="0"/>
            <a:chExt cx="4842682" cy="9257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42682" cy="925787"/>
            </a:xfrm>
            <a:custGeom>
              <a:avLst/>
              <a:gdLst/>
              <a:ahLst/>
              <a:cxnLst/>
              <a:rect l="l" t="t" r="r" b="b"/>
              <a:pathLst>
                <a:path w="4842682" h="925787">
                  <a:moveTo>
                    <a:pt x="0" y="0"/>
                  </a:moveTo>
                  <a:lnTo>
                    <a:pt x="4842682" y="0"/>
                  </a:lnTo>
                  <a:lnTo>
                    <a:pt x="4842682" y="925787"/>
                  </a:lnTo>
                  <a:lnTo>
                    <a:pt x="0" y="925787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4842682" cy="88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6537838"/>
            <a:ext cx="2468532" cy="313375"/>
            <a:chOff x="0" y="0"/>
            <a:chExt cx="650148" cy="825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50148" cy="82535"/>
            </a:xfrm>
            <a:custGeom>
              <a:avLst/>
              <a:gdLst/>
              <a:ahLst/>
              <a:cxnLst/>
              <a:rect l="l" t="t" r="r" b="b"/>
              <a:pathLst>
                <a:path w="650148" h="82535">
                  <a:moveTo>
                    <a:pt x="0" y="0"/>
                  </a:moveTo>
                  <a:lnTo>
                    <a:pt x="650148" y="0"/>
                  </a:lnTo>
                  <a:lnTo>
                    <a:pt x="650148" y="82535"/>
                  </a:lnTo>
                  <a:lnTo>
                    <a:pt x="0" y="82535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38100"/>
              <a:ext cx="650148" cy="4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95121" y="2414026"/>
            <a:ext cx="11004872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DETECTION &amp; MONITORING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95121" y="3741085"/>
            <a:ext cx="4067165" cy="4732701"/>
            <a:chOff x="0" y="0"/>
            <a:chExt cx="6985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7468" r="-7468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Shadow Empire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691933" y="4490791"/>
            <a:ext cx="2778608" cy="3233290"/>
            <a:chOff x="0" y="0"/>
            <a:chExt cx="6985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8181" r="-8181"/>
              </a:stretch>
            </a:blipFill>
            <a:ln w="3810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9102455" y="4443166"/>
            <a:ext cx="7717874" cy="192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7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Attack Detection</a:t>
            </a:r>
          </a:p>
          <a:p>
            <a:pPr algn="l" rtl="1">
              <a:lnSpc>
                <a:spcPts val="3871"/>
              </a:lnSpc>
            </a:pPr>
            <a:r>
              <a:rPr lang="en-US" sz="27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Channel Number</a:t>
            </a:r>
          </a:p>
          <a:p>
            <a:pPr algn="l" rtl="1">
              <a:lnSpc>
                <a:spcPts val="3871"/>
              </a:lnSpc>
            </a:pPr>
            <a:r>
              <a:rPr lang="en-US" sz="27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RSSI Signal Strength</a:t>
            </a:r>
          </a:p>
          <a:p>
            <a:pPr algn="l" rtl="1">
              <a:lnSpc>
                <a:spcPts val="3871"/>
              </a:lnSpc>
              <a:spcBef>
                <a:spcPct val="0"/>
              </a:spcBef>
            </a:pPr>
            <a:r>
              <a:rPr lang="en-US" sz="276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MAC Address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21757266" cy="7076160"/>
            <a:chOff x="0" y="0"/>
            <a:chExt cx="5730309" cy="1863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0309" cy="1863680"/>
            </a:xfrm>
            <a:custGeom>
              <a:avLst/>
              <a:gdLst/>
              <a:ahLst/>
              <a:cxnLst/>
              <a:rect l="l" t="t" r="r" b="b"/>
              <a:pathLst>
                <a:path w="5730309" h="1863680">
                  <a:moveTo>
                    <a:pt x="0" y="0"/>
                  </a:moveTo>
                  <a:lnTo>
                    <a:pt x="5730309" y="0"/>
                  </a:lnTo>
                  <a:lnTo>
                    <a:pt x="5730309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30309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925249" y="3629410"/>
            <a:ext cx="7651735" cy="4388943"/>
            <a:chOff x="0" y="0"/>
            <a:chExt cx="7981950" cy="4578350"/>
          </a:xfrm>
        </p:grpSpPr>
        <p:sp>
          <p:nvSpPr>
            <p:cNvPr id="15" name="Freeform 15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t="-3228" b="-322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6031344" y="3155562"/>
            <a:ext cx="1227956" cy="1428894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56616" y="9872467"/>
            <a:ext cx="1316589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28571" y="3734185"/>
            <a:ext cx="7298638" cy="117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ALERT SYSTEM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45362" y="5095008"/>
            <a:ext cx="7052288" cy="1400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67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Activating buzzer</a:t>
            </a:r>
          </a:p>
          <a:p>
            <a:pPr algn="l">
              <a:lnSpc>
                <a:spcPts val="3745"/>
              </a:lnSpc>
            </a:pPr>
            <a:r>
              <a:rPr lang="en-US" sz="267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Warning message on LCD</a:t>
            </a:r>
          </a:p>
          <a:p>
            <a:pPr algn="l">
              <a:lnSpc>
                <a:spcPts val="3745"/>
              </a:lnSpc>
              <a:spcBef>
                <a:spcPct val="0"/>
              </a:spcBef>
            </a:pPr>
            <a:r>
              <a:rPr lang="en-US" sz="267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Displaying details on Serial Monitor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4317818" y="2004339"/>
            <a:ext cx="27740609" cy="1629149"/>
            <a:chOff x="0" y="0"/>
            <a:chExt cx="7306169" cy="429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06169" cy="429076"/>
            </a:xfrm>
            <a:custGeom>
              <a:avLst/>
              <a:gdLst/>
              <a:ahLst/>
              <a:cxnLst/>
              <a:rect l="l" t="t" r="r" b="b"/>
              <a:pathLst>
                <a:path w="7306169" h="429076">
                  <a:moveTo>
                    <a:pt x="0" y="0"/>
                  </a:moveTo>
                  <a:lnTo>
                    <a:pt x="7306169" y="0"/>
                  </a:lnTo>
                  <a:lnTo>
                    <a:pt x="7306169" y="429076"/>
                  </a:lnTo>
                  <a:lnTo>
                    <a:pt x="0" y="429076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306169" cy="390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656616" y="9872467"/>
            <a:ext cx="1268922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44981" y="2286915"/>
            <a:ext cx="9143640" cy="116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FEATURES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: shadow Empire 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192753" y="4877390"/>
            <a:ext cx="4824057" cy="3368447"/>
            <a:chOff x="0" y="0"/>
            <a:chExt cx="1489880" cy="10403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89880" cy="1040324"/>
            </a:xfrm>
            <a:custGeom>
              <a:avLst/>
              <a:gdLst/>
              <a:ahLst/>
              <a:cxnLst/>
              <a:rect l="l" t="t" r="r" b="b"/>
              <a:pathLst>
                <a:path w="1489880" h="1040324">
                  <a:moveTo>
                    <a:pt x="0" y="0"/>
                  </a:moveTo>
                  <a:lnTo>
                    <a:pt x="1489880" y="0"/>
                  </a:lnTo>
                  <a:lnTo>
                    <a:pt x="1489880" y="1040324"/>
                  </a:lnTo>
                  <a:lnTo>
                    <a:pt x="0" y="1040324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38100"/>
              <a:ext cx="1489880" cy="10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11024" y="4787819"/>
            <a:ext cx="4824057" cy="3368447"/>
            <a:chOff x="0" y="0"/>
            <a:chExt cx="1489880" cy="104032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89880" cy="1040324"/>
            </a:xfrm>
            <a:custGeom>
              <a:avLst/>
              <a:gdLst/>
              <a:ahLst/>
              <a:cxnLst/>
              <a:rect l="l" t="t" r="r" b="b"/>
              <a:pathLst>
                <a:path w="1489880" h="1040324">
                  <a:moveTo>
                    <a:pt x="0" y="0"/>
                  </a:moveTo>
                  <a:lnTo>
                    <a:pt x="1489880" y="0"/>
                  </a:lnTo>
                  <a:lnTo>
                    <a:pt x="1489880" y="1040324"/>
                  </a:lnTo>
                  <a:lnTo>
                    <a:pt x="0" y="1040324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38100"/>
              <a:ext cx="1489880" cy="1002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39808" y="4291963"/>
            <a:ext cx="4824057" cy="4360159"/>
            <a:chOff x="0" y="0"/>
            <a:chExt cx="1489880" cy="13466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89880" cy="1346608"/>
            </a:xfrm>
            <a:custGeom>
              <a:avLst/>
              <a:gdLst/>
              <a:ahLst/>
              <a:cxnLst/>
              <a:rect l="l" t="t" r="r" b="b"/>
              <a:pathLst>
                <a:path w="1489880" h="1346608">
                  <a:moveTo>
                    <a:pt x="0" y="0"/>
                  </a:moveTo>
                  <a:lnTo>
                    <a:pt x="1489880" y="0"/>
                  </a:lnTo>
                  <a:lnTo>
                    <a:pt x="1489880" y="1346608"/>
                  </a:lnTo>
                  <a:lnTo>
                    <a:pt x="0" y="1346608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38100"/>
              <a:ext cx="1489880" cy="1308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911797" y="6342602"/>
            <a:ext cx="3866369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STANDALONE DEVICE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57056" y="6308689"/>
            <a:ext cx="3389562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FAST RESPONSE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55439" y="6308689"/>
            <a:ext cx="3389562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EASY OPERATION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751481" y="2840654"/>
            <a:ext cx="8712746" cy="230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TARGET USERS &amp; MARKET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11996079" y="2182140"/>
            <a:ext cx="21757266" cy="7076160"/>
            <a:chOff x="0" y="0"/>
            <a:chExt cx="5730309" cy="18636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30309" cy="1863680"/>
            </a:xfrm>
            <a:custGeom>
              <a:avLst/>
              <a:gdLst/>
              <a:ahLst/>
              <a:cxnLst/>
              <a:rect l="l" t="t" r="r" b="b"/>
              <a:pathLst>
                <a:path w="5730309" h="1863680">
                  <a:moveTo>
                    <a:pt x="0" y="0"/>
                  </a:moveTo>
                  <a:lnTo>
                    <a:pt x="5730309" y="0"/>
                  </a:lnTo>
                  <a:lnTo>
                    <a:pt x="5730309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5730309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98255" y="5663070"/>
            <a:ext cx="8365971" cy="16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3"/>
              </a:lnSpc>
            </a:pPr>
            <a:r>
              <a:rPr lang="en-US" sz="31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Home users</a:t>
            </a:r>
          </a:p>
          <a:p>
            <a:pPr algn="l">
              <a:lnSpc>
                <a:spcPts val="4443"/>
              </a:lnSpc>
            </a:pPr>
            <a:r>
              <a:rPr lang="en-US" sz="31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Small businesses</a:t>
            </a:r>
          </a:p>
          <a:p>
            <a:pPr algn="l">
              <a:lnSpc>
                <a:spcPts val="4443"/>
              </a:lnSpc>
              <a:spcBef>
                <a:spcPct val="0"/>
              </a:spcBef>
            </a:pPr>
            <a:r>
              <a:rPr lang="en-US" sz="317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Anyone using Wi-Fi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628571" y="2423311"/>
            <a:ext cx="4824057" cy="6593819"/>
            <a:chOff x="0" y="0"/>
            <a:chExt cx="1489880" cy="20364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9880" cy="2036459"/>
            </a:xfrm>
            <a:custGeom>
              <a:avLst/>
              <a:gdLst/>
              <a:ahLst/>
              <a:cxnLst/>
              <a:rect l="l" t="t" r="r" b="b"/>
              <a:pathLst>
                <a:path w="1489880" h="2036459">
                  <a:moveTo>
                    <a:pt x="0" y="0"/>
                  </a:moveTo>
                  <a:lnTo>
                    <a:pt x="1489880" y="0"/>
                  </a:lnTo>
                  <a:lnTo>
                    <a:pt x="1489880" y="2036459"/>
                  </a:lnTo>
                  <a:lnTo>
                    <a:pt x="0" y="2036459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38100"/>
              <a:ext cx="1489880" cy="1998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192753" y="3662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56616" y="9872467"/>
            <a:ext cx="1316589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Team: shadow Empire 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21757266" cy="7076160"/>
            <a:chOff x="0" y="0"/>
            <a:chExt cx="5730309" cy="1863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30309" cy="1863680"/>
            </a:xfrm>
            <a:custGeom>
              <a:avLst/>
              <a:gdLst/>
              <a:ahLst/>
              <a:cxnLst/>
              <a:rect l="l" t="t" r="r" b="b"/>
              <a:pathLst>
                <a:path w="5730309" h="1863680">
                  <a:moveTo>
                    <a:pt x="0" y="0"/>
                  </a:moveTo>
                  <a:lnTo>
                    <a:pt x="5730309" y="0"/>
                  </a:lnTo>
                  <a:lnTo>
                    <a:pt x="5730309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5730309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879486" y="2339288"/>
            <a:ext cx="5442280" cy="633283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664115" y="334025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616" y="9872467"/>
            <a:ext cx="1316589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45362" y="2840654"/>
            <a:ext cx="8712746" cy="230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COST &amp; ECONOMIC FEASIBILITY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76976" y="9702075"/>
            <a:ext cx="3534047" cy="19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Team: shadow Empire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45362" y="5644020"/>
            <a:ext cx="6853407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Estimated cost: 700–900 EGP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Low production cost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Profitable project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0" y="0"/>
                </a:moveTo>
                <a:lnTo>
                  <a:pt x="731654" y="0"/>
                </a:lnTo>
                <a:lnTo>
                  <a:pt x="731654" y="345873"/>
                </a:lnTo>
                <a:lnTo>
                  <a:pt x="0" y="345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1996079" y="2182140"/>
            <a:ext cx="28267418" cy="7076160"/>
            <a:chOff x="0" y="0"/>
            <a:chExt cx="7444917" cy="18636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44917" cy="1863680"/>
            </a:xfrm>
            <a:custGeom>
              <a:avLst/>
              <a:gdLst/>
              <a:ahLst/>
              <a:cxnLst/>
              <a:rect l="l" t="t" r="r" b="b"/>
              <a:pathLst>
                <a:path w="7444917" h="1863680">
                  <a:moveTo>
                    <a:pt x="0" y="0"/>
                  </a:moveTo>
                  <a:lnTo>
                    <a:pt x="7444917" y="0"/>
                  </a:lnTo>
                  <a:lnTo>
                    <a:pt x="7444917" y="1863680"/>
                  </a:lnTo>
                  <a:lnTo>
                    <a:pt x="0" y="186368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45000"/>
                  </a:srgbClr>
                </a:gs>
                <a:gs pos="100000">
                  <a:srgbClr val="0074AD">
                    <a:alpha val="2925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7444917" cy="1825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368786" y="4330068"/>
            <a:ext cx="699044" cy="813432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3477585" y="4458638"/>
            <a:ext cx="481445" cy="528533"/>
          </a:xfrm>
          <a:custGeom>
            <a:avLst/>
            <a:gdLst/>
            <a:ahLst/>
            <a:cxnLst/>
            <a:rect l="l" t="t" r="r" b="b"/>
            <a:pathLst>
              <a:path w="481445" h="528533">
                <a:moveTo>
                  <a:pt x="0" y="0"/>
                </a:moveTo>
                <a:lnTo>
                  <a:pt x="481446" y="0"/>
                </a:lnTo>
                <a:lnTo>
                  <a:pt x="481446" y="528533"/>
                </a:lnTo>
                <a:lnTo>
                  <a:pt x="0" y="52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28571" y="1038225"/>
            <a:ext cx="2089737" cy="228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LICERIA &amp; CO.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656616" y="9872467"/>
            <a:ext cx="1316589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3974" y="2286915"/>
            <a:ext cx="15520052" cy="116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  <a:spcBef>
                <a:spcPct val="0"/>
              </a:spcBef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IMPACT &amp; FUTURE DEVELOPMENT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76976" y="9702075"/>
            <a:ext cx="3534047" cy="19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7"/>
              </a:lnSpc>
              <a:spcBef>
                <a:spcPct val="0"/>
              </a:spcBef>
            </a:pPr>
            <a:r>
              <a:rPr lang="en-US" sz="1383" spc="35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www.reallygreatsite.com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427361" y="5301575"/>
            <a:ext cx="418645" cy="41864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565430" y="5345207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017911" y="5357397"/>
            <a:ext cx="1991344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INCREASE CYBERSECURITY AWARENESS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772686" y="4330068"/>
            <a:ext cx="699044" cy="813432"/>
            <a:chOff x="0" y="0"/>
            <a:chExt cx="6985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33" name="TextBox 33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8881485" y="4458638"/>
            <a:ext cx="481445" cy="528533"/>
          </a:xfrm>
          <a:custGeom>
            <a:avLst/>
            <a:gdLst/>
            <a:ahLst/>
            <a:cxnLst/>
            <a:rect l="l" t="t" r="r" b="b"/>
            <a:pathLst>
              <a:path w="481445" h="528533">
                <a:moveTo>
                  <a:pt x="0" y="0"/>
                </a:moveTo>
                <a:lnTo>
                  <a:pt x="481446" y="0"/>
                </a:lnTo>
                <a:lnTo>
                  <a:pt x="481446" y="528533"/>
                </a:lnTo>
                <a:lnTo>
                  <a:pt x="0" y="52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7171251" y="5301575"/>
            <a:ext cx="418645" cy="418645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309320" y="5345207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61801" y="5328822"/>
            <a:ext cx="3354947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REDUCE ATTACK RISKS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4176586" y="4330068"/>
            <a:ext cx="699044" cy="813432"/>
            <a:chOff x="0" y="0"/>
            <a:chExt cx="6985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42" name="TextBox 42"/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2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4285385" y="4458638"/>
            <a:ext cx="481445" cy="528533"/>
          </a:xfrm>
          <a:custGeom>
            <a:avLst/>
            <a:gdLst/>
            <a:ahLst/>
            <a:cxnLst/>
            <a:rect l="l" t="t" r="r" b="b"/>
            <a:pathLst>
              <a:path w="481445" h="528533">
                <a:moveTo>
                  <a:pt x="0" y="0"/>
                </a:moveTo>
                <a:lnTo>
                  <a:pt x="481445" y="0"/>
                </a:lnTo>
                <a:lnTo>
                  <a:pt x="481445" y="528533"/>
                </a:lnTo>
                <a:lnTo>
                  <a:pt x="0" y="528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2900310" y="5301575"/>
            <a:ext cx="418645" cy="4186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45DEEF">
                      <a:alpha val="100000"/>
                    </a:srgbClr>
                  </a:gs>
                  <a:gs pos="100000">
                    <a:srgbClr val="0074AD">
                      <a:alpha val="65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3038379" y="5345207"/>
            <a:ext cx="209323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3.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490860" y="5328822"/>
            <a:ext cx="2830906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FUTURE AI INTEGRATION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731654" y="0"/>
                </a:moveTo>
                <a:lnTo>
                  <a:pt x="0" y="0"/>
                </a:lnTo>
                <a:lnTo>
                  <a:pt x="0" y="345873"/>
                </a:lnTo>
                <a:lnTo>
                  <a:pt x="731654" y="345873"/>
                </a:lnTo>
                <a:lnTo>
                  <a:pt x="7316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40236" y="2828124"/>
            <a:ext cx="3816370" cy="3873948"/>
          </a:xfrm>
          <a:custGeom>
            <a:avLst/>
            <a:gdLst/>
            <a:ahLst/>
            <a:cxnLst/>
            <a:rect l="l" t="t" r="r" b="b"/>
            <a:pathLst>
              <a:path w="3816370" h="3873948">
                <a:moveTo>
                  <a:pt x="0" y="0"/>
                </a:moveTo>
                <a:lnTo>
                  <a:pt x="3816370" y="0"/>
                </a:lnTo>
                <a:lnTo>
                  <a:pt x="3816370" y="3873948"/>
                </a:lnTo>
                <a:lnTo>
                  <a:pt x="0" y="387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56616" y="9872467"/>
            <a:ext cx="1205367" cy="192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39579" y="9725259"/>
            <a:ext cx="6008843" cy="22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sz="1653" spc="42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Team: shadow Empire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3056" y="5191125"/>
            <a:ext cx="6974783" cy="144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9"/>
              </a:lnSpc>
              <a:spcBef>
                <a:spcPct val="0"/>
              </a:spcBef>
            </a:pPr>
            <a:r>
              <a:rPr lang="en-US" sz="357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FINALLY, OUR PROJECT PROVIDES A SIMPLE AND EFFECTIVE WAY TO DETECT WI-FI ATTACKS IN REAL TIME.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33056" y="3522842"/>
            <a:ext cx="7502865" cy="124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37"/>
              </a:lnSpc>
            </a:pPr>
            <a:r>
              <a:rPr lang="en-US" sz="7312" i="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Conclusion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827" y="802108"/>
            <a:ext cx="580294" cy="580294"/>
          </a:xfrm>
          <a:custGeom>
            <a:avLst/>
            <a:gdLst/>
            <a:ahLst/>
            <a:cxnLst/>
            <a:rect l="l" t="t" r="r" b="b"/>
            <a:pathLst>
              <a:path w="580294" h="580294">
                <a:moveTo>
                  <a:pt x="0" y="0"/>
                </a:moveTo>
                <a:lnTo>
                  <a:pt x="580294" y="0"/>
                </a:lnTo>
                <a:lnTo>
                  <a:pt x="580294" y="580294"/>
                </a:lnTo>
                <a:lnTo>
                  <a:pt x="0" y="580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321766" y="9615834"/>
            <a:ext cx="2192753" cy="1597205"/>
            <a:chOff x="0" y="0"/>
            <a:chExt cx="577515" cy="4206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45DEEF">
                    <a:alpha val="100000"/>
                  </a:srgbClr>
                </a:gs>
                <a:gs pos="100000">
                  <a:srgbClr val="0074AD">
                    <a:alpha val="65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8397"/>
            <a:ext cx="2192753" cy="1597205"/>
            <a:chOff x="0" y="0"/>
            <a:chExt cx="577515" cy="4206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7515" cy="420663"/>
            </a:xfrm>
            <a:custGeom>
              <a:avLst/>
              <a:gdLst/>
              <a:ahLst/>
              <a:cxnLst/>
              <a:rect l="l" t="t" r="r" b="b"/>
              <a:pathLst>
                <a:path w="577515" h="420663">
                  <a:moveTo>
                    <a:pt x="0" y="0"/>
                  </a:moveTo>
                  <a:lnTo>
                    <a:pt x="577515" y="0"/>
                  </a:lnTo>
                  <a:lnTo>
                    <a:pt x="577515" y="420663"/>
                  </a:lnTo>
                  <a:lnTo>
                    <a:pt x="0" y="420663"/>
                  </a:lnTo>
                  <a:close/>
                </a:path>
              </a:pathLst>
            </a:custGeom>
            <a:gradFill rotWithShape="1">
              <a:gsLst>
                <a:gs pos="0">
                  <a:srgbClr val="0074AD">
                    <a:alpha val="6500"/>
                  </a:srgbClr>
                </a:gs>
                <a:gs pos="100000">
                  <a:srgbClr val="45DEE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577515" cy="382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914827" y="9719553"/>
            <a:ext cx="731654" cy="345873"/>
          </a:xfrm>
          <a:custGeom>
            <a:avLst/>
            <a:gdLst/>
            <a:ahLst/>
            <a:cxnLst/>
            <a:rect l="l" t="t" r="r" b="b"/>
            <a:pathLst>
              <a:path w="731654" h="345873">
                <a:moveTo>
                  <a:pt x="731654" y="0"/>
                </a:moveTo>
                <a:lnTo>
                  <a:pt x="0" y="0"/>
                </a:lnTo>
                <a:lnTo>
                  <a:pt x="0" y="345873"/>
                </a:lnTo>
                <a:lnTo>
                  <a:pt x="731654" y="345873"/>
                </a:lnTo>
                <a:lnTo>
                  <a:pt x="7316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28571" y="1038225"/>
            <a:ext cx="2089737" cy="228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spcBef>
                <a:spcPct val="0"/>
              </a:spcBef>
            </a:pPr>
            <a:r>
              <a:rPr lang="en-US" sz="1582" spc="9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DR.SAMEH - 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14493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21815" y="1044630"/>
            <a:ext cx="1564422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OTHERS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140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99993" y="1044630"/>
            <a:ext cx="922798" cy="283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56616" y="9872467"/>
            <a:ext cx="1205367" cy="192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  <a:spcBef>
                <a:spcPct val="0"/>
              </a:spcBef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39579" y="9725259"/>
            <a:ext cx="6008843" cy="22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  <a:spcBef>
                <a:spcPct val="0"/>
              </a:spcBef>
            </a:pPr>
            <a:r>
              <a:rPr lang="en-US" sz="1653" spc="42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Team: shadow Empire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65209" y="6050809"/>
            <a:ext cx="8557582" cy="318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  <a:spcBef>
                <a:spcPct val="0"/>
              </a:spcBef>
            </a:pPr>
            <a:r>
              <a:rPr lang="en-US" sz="2353" spc="609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Team Shadow Empire (Cs - dr.sameh)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60116" y="4002967"/>
            <a:ext cx="9967769" cy="200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29"/>
              </a:lnSpc>
              <a:spcBef>
                <a:spcPct val="0"/>
              </a:spcBef>
            </a:pPr>
            <a:r>
              <a:rPr lang="en-US" sz="1446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 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409605" y="4912588"/>
            <a:ext cx="551787" cy="965929"/>
          </a:xfrm>
          <a:custGeom>
            <a:avLst/>
            <a:gdLst/>
            <a:ahLst/>
            <a:cxnLst/>
            <a:rect l="l" t="t" r="r" b="b"/>
            <a:pathLst>
              <a:path w="551787" h="965929">
                <a:moveTo>
                  <a:pt x="0" y="0"/>
                </a:moveTo>
                <a:lnTo>
                  <a:pt x="551787" y="0"/>
                </a:lnTo>
                <a:lnTo>
                  <a:pt x="551787" y="965928"/>
                </a:lnTo>
                <a:lnTo>
                  <a:pt x="0" y="965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مخصص</PresentationFormat>
  <Paragraphs>0</Paragraphs>
  <Slides>16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1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Black Tech Modern Cyber Security Presentation</dc:title>
  <cp:lastModifiedBy>Mohamed Emad</cp:lastModifiedBy>
  <cp:revision>2</cp:revision>
  <dcterms:created xsi:type="dcterms:W3CDTF">2006-08-16T00:00:00Z</dcterms:created>
  <dcterms:modified xsi:type="dcterms:W3CDTF">2026-05-08T14:14:26Z</dcterms:modified>
  <dc:identifier>DAHI_gPa_KQ</dc:identifier>
</cp:coreProperties>
</file>